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0A56-B7DA-460C-8F46-95BFAF0AF95F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178EC5-58A4-4F44-B83C-34BE3E218AB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774307"/>
            <a:ext cx="9144000" cy="1046938"/>
          </a:xfrm>
        </p:spPr>
        <p:txBody>
          <a:bodyPr>
            <a:noAutofit/>
          </a:bodyPr>
          <a:lstStyle/>
          <a:p>
            <a:pPr>
              <a:buNone/>
            </a:pPr>
            <a:r>
              <a:rPr sz="4800" b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INFO 5100 Fall 2025 Final Project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27318" y="2145358"/>
            <a:ext cx="9337364" cy="3628079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Autofit/>
          </a:bodyPr>
          <a:lstStyle/>
          <a:p>
            <a:pPr marL="0" lvl="0" indent="0" algn="ctr" defTabSz="914400">
              <a:lnSpc>
                <a:spcPts val="6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 Care Ecosystem</a:t>
            </a:r>
            <a:r>
              <a:rPr sz="3200" b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   </a:t>
            </a:r>
            <a:r>
              <a:rPr lang="zh-CN" sz="32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🐾</a:t>
            </a:r>
            <a:endParaRPr lang="zh-CN" sz="2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ts val="6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Group: </a:t>
            </a:r>
            <a:r>
              <a:rPr lang="en-US" sz="2400" b="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Group 1 </a:t>
            </a:r>
            <a:endParaRPr sz="2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ts val="6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Team members:</a:t>
            </a:r>
            <a:r>
              <a:rPr sz="2800" b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sz="2400" b="0" i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Linyao Han, </a:t>
            </a:r>
            <a:r>
              <a:rPr sz="2400" b="0" i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Jing Yang Wang, </a:t>
            </a:r>
            <a:r>
              <a:rPr sz="2400" b="0" i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Hairui Dou</a:t>
            </a:r>
            <a:endParaRPr sz="2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ts val="6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Date: </a:t>
            </a:r>
            <a:r>
              <a:rPr lang="en-US" sz="2400" b="0" i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December 8, 2025</a:t>
            </a:r>
            <a:endParaRPr sz="2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Problem &amp; Motivation</a:t>
            </a:r>
            <a:endParaRPr lang="en-US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i="1">
                <a:latin typeface="Times New Roman" panose="02020603050405020304"/>
                <a:ea typeface="Times New Roman" panose="02020603050405020304"/>
              </a:rPr>
              <a:t>Unpredictable accidents or illness</a:t>
            </a:r>
            <a:endParaRPr lang="en-US" i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i="1">
                <a:latin typeface="Times New Roman" panose="02020603050405020304"/>
                <a:ea typeface="Times New Roman" panose="02020603050405020304"/>
              </a:rPr>
              <a:t>Rising pet medical costs</a:t>
            </a:r>
            <a:endParaRPr lang="en-US" i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i="1">
                <a:latin typeface="Times New Roman" panose="02020603050405020304"/>
                <a:ea typeface="Times New Roman" panose="02020603050405020304"/>
              </a:rPr>
              <a:t>Manual insurance processes</a:t>
            </a:r>
            <a:endParaRPr lang="en-US" i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i="1">
                <a:latin typeface="Times New Roman" panose="02020603050405020304"/>
                <a:ea typeface="Times New Roman" panose="02020603050405020304"/>
              </a:rPr>
              <a:t>Need for efficiency and accuracy
</a:t>
            </a:r>
            <a:endParaRPr lang="en-US" i="1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4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hlinkClick r:id=""/>
              </a:rPr>
              <a:t>Enterprise Directory</a:t>
            </a:r>
            <a:endParaRPr sz="4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683283" y="2259394"/>
            <a:ext cx="10515600" cy="4351338"/>
          </a:xfrm>
        </p:spPr>
        <p:txBody>
          <a:bodyPr>
            <a:normAutofit fontScale="90000"/>
          </a:bodyPr>
          <a:lstStyle/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280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280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 Boarding Enterprise </a:t>
            </a:r>
            <a:r>
              <a:rPr lang="en-US" sz="222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(PetCareTaker, BoardingManager, CustomerSupporter)</a:t>
            </a:r>
            <a:endParaRPr lang="en-US" sz="222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 Clinic Enterprise </a:t>
            </a:r>
            <a:r>
              <a:rPr lang="en-US" sz="222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(FrontDesk,VetDoctor, VetLabAssistant)</a:t>
            </a:r>
            <a:endParaRPr lang="en-US" sz="222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 Insurance Enterprise </a:t>
            </a:r>
            <a:r>
              <a:rPr lang="en-US" sz="222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(ClaimProcessor, InsuranceAgent)</a:t>
            </a:r>
            <a:endParaRPr lang="en-US" sz="222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97738"/>
            <a:ext cx="5941083" cy="22268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698775" y="0"/>
            <a:ext cx="10515600" cy="1325563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Pet Boarding Enterprise                               </a:t>
            </a:r>
            <a:r>
              <a:rPr lang="zh-CN" b="1">
                <a:latin typeface="Times New Roman" panose="02020603050405020304"/>
                <a:ea typeface="Times New Roman" panose="02020603050405020304"/>
              </a:rPr>
              <a:t>🐾</a:t>
            </a:r>
            <a:endParaRPr lang="zh-CN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450905" y="1163969"/>
            <a:ext cx="5248407" cy="5358299"/>
          </a:xfrm>
          <a:solidFill>
            <a:schemeClr val="tx2">
              <a:lumMod val="20000"/>
              <a:lumOff val="80000"/>
              <a:alpha val="100000"/>
            </a:schemeClr>
          </a:solidFill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🙋</a:t>
            </a:r>
            <a:r>
              <a:rPr lang="en-US" altLang="zh-CN"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 Care Taker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O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rganization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Role:</a:t>
            </a: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Pet Care Taker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-Main Functions:</a:t>
            </a:r>
            <a:endParaRPr sz="2800">
              <a:solidFill>
                <a:schemeClr val="dk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Register for new boarding services.</a:t>
            </a:r>
            <a:endParaRPr lang="en-US" sz="24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Record the daily care of pets.</a:t>
            </a:r>
            <a:endParaRPr lang="en-US" sz="24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 a request to the manager for  unusual pets.</a:t>
            </a:r>
            <a:endParaRPr lang="en-US" sz="24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24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24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br/>
            <a:endParaRPr sz="2800">
              <a:solidFill>
                <a:schemeClr val="dk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2800">
              <a:solidFill>
                <a:schemeClr val="dk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96000" y="1043916"/>
            <a:ext cx="5607050" cy="304927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635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🧑‍️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Manger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Organizatio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n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-Role:</a:t>
            </a: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Manager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-Main Functions:</a:t>
            </a:r>
            <a:endParaRPr lang="en-US" sz="240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 Pet Care Taker Request</a:t>
            </a:r>
            <a:endParaRPr lang="en-US" sz="24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  a Request to Customer Service for
unusual pets.    </a:t>
            </a:r>
            <a:endParaRPr lang="en-US" sz="24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96000" y="4197056"/>
            <a:ext cx="5607050" cy="2450465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👩</a:t>
            </a:r>
            <a:r>
              <a:rPr lang="en-US" altLang="zh-CN"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Customer service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Org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anization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-Role:</a:t>
            </a: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Lab Assistant Customer service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-Main Functions: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Contatct the pet's owner.</a:t>
            </a:r>
            <a:endParaRPr lang="en-US" sz="22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0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 information about insurance and the clinic</a:t>
            </a:r>
            <a:endParaRPr lang="en-US" sz="20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708957" y="241192"/>
            <a:ext cx="10515600" cy="1325563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Workflows involved                                           </a:t>
            </a:r>
            <a:r>
              <a:rPr lang="zh-CN" b="1">
                <a:latin typeface="Times New Roman" panose="02020603050405020304"/>
                <a:ea typeface="Times New Roman" panose="02020603050405020304"/>
              </a:rPr>
              <a:t>🐾</a:t>
            </a:r>
            <a:endParaRPr lang="zh-CN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5" name="内容占位符 2"/>
          <p:cNvSpPr>
            <a:spLocks noGrp="1"/>
          </p:cNvSpPr>
          <p:nvPr>
            <p:ph idx="1"/>
          </p:nvPr>
        </p:nvSpPr>
        <p:spPr>
          <a:xfrm>
            <a:off x="590332" y="1407348"/>
            <a:ext cx="5232915" cy="5092700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rmAutofit fontScale="77500"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384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☘️</a:t>
            </a:r>
            <a:r>
              <a:rPr lang="en-US" sz="3615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Health Care Check Request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3635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Sender</a:t>
            </a:r>
            <a:r>
              <a:rPr sz="3635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 CareTaker (PetBoarding)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3635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Receiver</a:t>
            </a:r>
            <a:r>
              <a:rPr sz="3635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F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ron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t Desk (PetClinic)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3635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Operation</a:t>
            </a:r>
            <a:r>
              <a:rPr lang="en-US" sz="3635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</a:t>
            </a:r>
            <a:r>
              <a:rPr lang="en-US" sz="256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pet boarding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PetCareTaker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</a:t>
            </a:r>
            <a:endParaRPr lang="en-US" sz="288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Pet clinic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FrontDesk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173944" y="1407348"/>
            <a:ext cx="5441950" cy="501015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</a:ln>
        </p:spPr>
        <p:txBody>
          <a:bodyPr>
            <a:spAutoFit/>
          </a:bodyPr>
          <a:p>
            <a:pPr marL="0" lvl="0" indent="0" algn="l" defTabSz="914400">
              <a:lnSpc>
                <a:spcPct val="130000"/>
              </a:lnSpc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30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💉</a:t>
            </a:r>
            <a:r>
              <a:rPr lang="en-US" altLang="zh-CN" sz="30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6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Health Care Check Request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4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Sender</a:t>
            </a:r>
            <a:r>
              <a:rPr sz="24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32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Vet Doctor</a:t>
            </a: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(</a:t>
            </a: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PetClinic</a:t>
            </a: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 and </a:t>
            </a: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ClaimProcessor(insurance) </a:t>
            </a:r>
            <a:endParaRPr lang="en-US" sz="22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Receiver</a:t>
            </a:r>
            <a:r>
              <a:rPr lang="zh-CN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</a:t>
            </a:r>
            <a:r>
              <a:rPr sz="28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Customer Service (Pet boarding)</a:t>
            </a:r>
            <a:endParaRPr lang="en-US" sz="22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Operation</a:t>
            </a:r>
            <a:r>
              <a:rPr lang="en-US" sz="24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0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  Pet Clinic Vet Doctor  and pet Insurance Claim Processor</a:t>
            </a:r>
            <a:r>
              <a:rPr lang="en-US" sz="22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 Pet Boarding Customer Service</a:t>
            </a:r>
            <a:endParaRPr lang="en-US" sz="22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8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8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6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6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698775" y="0"/>
            <a:ext cx="10515600" cy="132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Pet Clinic Enterprise                               </a:t>
            </a:r>
            <a:r>
              <a:rPr lang="zh-CN" b="1">
                <a:latin typeface="Times New Roman" panose="02020603050405020304"/>
                <a:ea typeface="Times New Roman" panose="02020603050405020304"/>
              </a:rPr>
              <a:t>🐾</a:t>
            </a:r>
            <a:endParaRPr lang="zh-CN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9" name="内容占位符 2"/>
          <p:cNvSpPr>
            <a:spLocks noGrp="1"/>
          </p:cNvSpPr>
          <p:nvPr>
            <p:ph idx="1"/>
          </p:nvPr>
        </p:nvSpPr>
        <p:spPr>
          <a:xfrm>
            <a:off x="450905" y="1163969"/>
            <a:ext cx="5248407" cy="5358299"/>
          </a:xfrm>
          <a:solidFill>
            <a:schemeClr val="tx2">
              <a:lumMod val="20000"/>
              <a:lumOff val="80000"/>
              <a:alpha val="100000"/>
            </a:schemeClr>
          </a:solidFill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🙋</a:t>
            </a:r>
            <a:r>
              <a:rPr lang="en-US" altLang="zh-CN"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Front Desk Organization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Role:</a:t>
            </a: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F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nt Desk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-Main Functions:</a:t>
            </a: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
   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ecei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v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e Health Care Check Request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
    Assign doctors 
   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 Lab Test Result 
    Send Insurance Claim Request </a:t>
            </a:r>
            <a:endParaRPr sz="2800">
              <a:solidFill>
                <a:schemeClr val="dk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br/>
            <a:endParaRPr sz="2800">
              <a:solidFill>
                <a:schemeClr val="dk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dk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2800">
              <a:solidFill>
                <a:schemeClr val="dk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96000" y="1163969"/>
            <a:ext cx="5606718" cy="304927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635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🧑‍</a:t>
            </a:r>
            <a:r>
              <a:rPr lang="en-US" altLang="zh-CN"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Vet Doctor Organization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-Role:</a:t>
            </a: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D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ctor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-Main Functions:</a:t>
            </a:r>
            <a:endParaRPr lang="en-US" sz="240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  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 Health Care Check Request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Send Lab Test Request 
    Give treatment needed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96000" y="4452168"/>
            <a:ext cx="5606718" cy="2089785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👩</a:t>
            </a:r>
            <a:r>
              <a:rPr lang="en-US" altLang="zh-CN"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Vet 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Lab Organization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-Role:</a:t>
            </a:r>
            <a:r>
              <a:rPr lang="en-US" sz="28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Lab Assistant
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-Main Functions:</a:t>
            </a:r>
            <a:endParaRPr lang="en-US" sz="240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  </a:t>
            </a:r>
            <a:r>
              <a:rPr lang="en-US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Complete Lab Test received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708957" y="241192"/>
            <a:ext cx="10515600" cy="1325563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Workflows involved                                           </a:t>
            </a:r>
            <a:r>
              <a:rPr lang="zh-CN" b="1">
                <a:latin typeface="Times New Roman" panose="02020603050405020304"/>
                <a:ea typeface="Times New Roman" panose="02020603050405020304"/>
              </a:rPr>
              <a:t>🐾</a:t>
            </a:r>
            <a:endParaRPr lang="zh-CN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4" name="内容占位符 2"/>
          <p:cNvSpPr>
            <a:spLocks noGrp="1"/>
          </p:cNvSpPr>
          <p:nvPr>
            <p:ph idx="1"/>
          </p:nvPr>
        </p:nvSpPr>
        <p:spPr>
          <a:xfrm>
            <a:off x="590332" y="1407348"/>
            <a:ext cx="5232915" cy="5092700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rmAutofit fontScale="62500"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384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☘️</a:t>
            </a:r>
            <a:r>
              <a:rPr lang="en-US" sz="384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Health Care Check Request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3635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Sender</a:t>
            </a:r>
            <a:r>
              <a:rPr sz="3635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 CareTaker (PetBoarding)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3635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Receiver</a:t>
            </a:r>
            <a:r>
              <a:rPr sz="3635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F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ron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t Desk (PetClinic)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3635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Operation</a:t>
            </a:r>
            <a:r>
              <a:rPr lang="en-US" sz="3635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</a:t>
            </a:r>
            <a:r>
              <a:rPr lang="en-US" sz="256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ssu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e Health Care Check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Requests (PetCareTaker)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Receive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Health Care Check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Requests 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(FrontDesk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 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Related to Lab Test Request + </a:t>
            </a:r>
            <a:r>
              <a:rPr lang="en-US" altLang="zh-CN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Treatment Needed</a:t>
            </a:r>
            <a:r>
              <a:rPr lang="en-US" alt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</a:t>
            </a:r>
            <a:r>
              <a:rPr lang="en-US" sz="288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Issue Insurance Cliam Request (FrontDesk)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188951" y="1407348"/>
            <a:ext cx="5422900" cy="5128895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</a:ln>
        </p:spPr>
        <p:txBody>
          <a:bodyPr>
            <a:spAutoFit/>
          </a:bodyPr>
          <a:p>
            <a:pPr marL="0" lvl="0" indent="0" algn="l" defTabSz="914400">
              <a:lnSpc>
                <a:spcPct val="130000"/>
              </a:lnSpc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💉</a:t>
            </a:r>
            <a:r>
              <a:rPr lang="en-US" altLang="zh-CN"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Health Care Check Request</a:t>
            </a:r>
            <a:endParaRPr lang="en-US" sz="2400" b="1" i="0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0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Sender</a:t>
            </a:r>
            <a:r>
              <a:rPr sz="20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Vet Doctor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(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PetClinic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</a:t>
            </a:r>
            <a:endParaRPr lang="en-US" sz="18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8600" lvl="0" indent="-228600" algn="l" defTabSz="914400">
              <a:lnSpc>
                <a:spcPct val="130000"/>
              </a:lnSpc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Receiver</a:t>
            </a:r>
            <a:r>
              <a:rPr lang="zh-CN" sz="20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18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Lab Assistant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(PetClinic)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Operation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6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 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ss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ue Lab Test Request(Doctor)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
      Complete the Test(LabAssistant)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
      Give Treatment Needed(Doctor)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  Give result to the Health Care Check Request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6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6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6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6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lvl="0" indent="0" algn="l" defTabSz="914400">
              <a:lnSpc>
                <a:spcPct val="13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en-US" sz="16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sz="4400" b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Workflows involved                                           </a:t>
            </a:r>
            <a:r>
              <a:rPr lang="zh-CN" sz="4400" b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🐾</a:t>
            </a:r>
            <a:endParaRPr lang="zh-CN" sz="4400" b="1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8" name="内容占位符 2"/>
          <p:cNvSpPr>
            <a:spLocks noGrp="1"/>
          </p:cNvSpPr>
          <p:nvPr>
            <p:ph idx="1"/>
          </p:nvPr>
        </p:nvSpPr>
        <p:spPr>
          <a:xfrm>
            <a:off x="698774" y="1546774"/>
            <a:ext cx="5124474" cy="5001990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rmAutofit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💼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Insurance Claim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Request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0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Sender</a:t>
            </a:r>
            <a:r>
              <a:rPr sz="20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FrontDesk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PetClinic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Receiver</a:t>
            </a:r>
            <a:r>
              <a:rPr lang="zh-CN" sz="20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ClaimProcessor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(PetInsurance)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Operation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6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 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ss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ue Insurance Claim Request(FrontDesk)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
     Give Decision(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ClaimProcessor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
   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Update Insurance Cliam Result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(FrontDesk)</a:t>
            </a:r>
            <a:endParaRPr lang="en-US" sz="1800" b="0" i="1" u="none" strike="noStrike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8752" y="2027018"/>
            <a:ext cx="3094675" cy="2175669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076" y="3826396"/>
            <a:ext cx="3094674" cy="20407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xfrm>
            <a:off x="337601" y="393508"/>
            <a:ext cx="11222454" cy="861487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Pet Insurance Enterprise                                     </a:t>
            </a:r>
            <a:r>
              <a:rPr lang="zh-CN" b="1">
                <a:latin typeface="Times New Roman" panose="02020603050405020304"/>
                <a:ea typeface="Times New Roman" panose="02020603050405020304"/>
              </a:rPr>
              <a:t>🐾</a:t>
            </a:r>
            <a:endParaRPr lang="zh-CN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3" name="内容占位符 2"/>
          <p:cNvSpPr>
            <a:spLocks noGrp="1"/>
          </p:cNvSpPr>
          <p:nvPr>
            <p:ph idx="1"/>
          </p:nvPr>
        </p:nvSpPr>
        <p:spPr>
          <a:xfrm>
            <a:off x="337601" y="1432843"/>
            <a:ext cx="5387966" cy="5021668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b="1">
                <a:latin typeface="Times New Roman" panose="02020603050405020304"/>
                <a:ea typeface="Times New Roman" panose="02020603050405020304"/>
              </a:rPr>
              <a:t>📋</a:t>
            </a:r>
            <a:r>
              <a:rPr lang="en-US" altLang="zh-CN" b="1"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b="1">
                <a:latin typeface="Times New Roman" panose="02020603050405020304"/>
                <a:ea typeface="Times New Roman" panose="02020603050405020304"/>
              </a:rPr>
              <a:t>Insurance Policy Organization</a:t>
            </a:r>
            <a:endParaRPr lang="en-US" b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Role</a:t>
            </a:r>
            <a:r>
              <a:rPr lang="en-US">
                <a:latin typeface="Times New Roman" panose="02020603050405020304"/>
                <a:ea typeface="Times New Roman" panose="02020603050405020304"/>
              </a:rPr>
              <a:t>: </a:t>
            </a:r>
            <a:r>
              <a:rPr lang="en-US" sz="2400" i="1">
                <a:latin typeface="Times New Roman" panose="02020603050405020304"/>
                <a:ea typeface="Times New Roman" panose="02020603050405020304"/>
              </a:rPr>
              <a:t>Insurance Agent</a:t>
            </a:r>
            <a:endParaRPr lang="en-US" sz="2400" i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Main Functions</a:t>
            </a:r>
            <a:r>
              <a:rPr lang="en-US" b="0">
                <a:latin typeface="Times New Roman" panose="02020603050405020304"/>
                <a:ea typeface="Times New Roman" panose="02020603050405020304"/>
              </a:rPr>
              <a:t>:</a:t>
            </a:r>
            <a:r>
              <a:rPr lang="en-US" b="1">
                <a:latin typeface="Times New Roman" panose="02020603050405020304"/>
                <a:ea typeface="Times New Roman" panose="02020603050405020304"/>
              </a:rPr>
              <a:t> </a:t>
            </a:r>
            <a:endParaRPr lang="en-US" b="1">
              <a:latin typeface="Times New Roman" panose="02020603050405020304"/>
              <a:ea typeface="Times New Roman" panose="02020603050405020304"/>
            </a:endParaRPr>
          </a:p>
          <a:p>
            <a:pPr marL="0" indent="0" algn="l" defTabSz="914400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</a:rPr>
              <a:t>	</a:t>
            </a:r>
            <a:r>
              <a:rPr lang="en-US" sz="2000" i="1">
                <a:latin typeface="Times New Roman" panose="02020603050405020304"/>
                <a:ea typeface="Times New Roman" panose="02020603050405020304"/>
              </a:rPr>
              <a:t>Create New Policy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indent="0" algn="l" defTabSz="914400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i="1">
                <a:latin typeface="Times New Roman" panose="02020603050405020304"/>
                <a:ea typeface="Times New Roman" panose="02020603050405020304"/>
              </a:rPr>
              <a:t>	View Policy Details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indent="0" algn="l" defTabSz="914400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i="1">
                <a:latin typeface="Times New Roman" panose="02020603050405020304"/>
                <a:ea typeface="Times New Roman" panose="02020603050405020304"/>
              </a:rPr>
              <a:t>	Manage Policy Details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indent="0" algn="l" defTabSz="914400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i="1">
                <a:latin typeface="Times New Roman" panose="02020603050405020304"/>
                <a:ea typeface="Times New Roman" panose="02020603050405020304"/>
              </a:rPr>
              <a:t>	View Insurance Overview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4" name="内容占位符 3"/>
          <p:cNvSpPr>
            <a:spLocks noGrp="1"/>
          </p:cNvSpPr>
          <p:nvPr>
            <p:ph idx="2"/>
          </p:nvPr>
        </p:nvSpPr>
        <p:spPr>
          <a:xfrm>
            <a:off x="6172080" y="1432843"/>
            <a:ext cx="5387975" cy="5021643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b="1">
                <a:latin typeface="Times New Roman" panose="02020603050405020304"/>
                <a:ea typeface="Times New Roman" panose="02020603050405020304"/>
              </a:rPr>
              <a:t>🧮</a:t>
            </a:r>
            <a:r>
              <a:rPr lang="en-US" altLang="zh-CN" b="1"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b="1">
                <a:latin typeface="Times New Roman" panose="02020603050405020304"/>
                <a:ea typeface="Times New Roman" panose="02020603050405020304"/>
              </a:rPr>
              <a:t>Insurance Claim Organization</a:t>
            </a:r>
            <a:endParaRPr lang="en-US" b="1">
              <a:latin typeface="Times New Roman" panose="02020603050405020304"/>
              <a:ea typeface="Times New Roman" panose="02020603050405020304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Role</a:t>
            </a:r>
            <a:r>
              <a:rPr lang="en-US" b="0">
                <a:latin typeface="Times New Roman" panose="02020603050405020304"/>
                <a:ea typeface="Times New Roman" panose="02020603050405020304"/>
              </a:rPr>
              <a:t>:</a:t>
            </a:r>
            <a:r>
              <a:rPr lang="en-US" b="1"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2400" i="1">
                <a:latin typeface="Times New Roman" panose="02020603050405020304"/>
                <a:ea typeface="Times New Roman" panose="02020603050405020304"/>
              </a:rPr>
              <a:t>Claim Processor</a:t>
            </a:r>
            <a:endParaRPr lang="en-US" sz="2400" i="1">
              <a:latin typeface="Times New Roman" panose="02020603050405020304"/>
              <a:ea typeface="Times New Roman" panose="02020603050405020304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Main Functions</a:t>
            </a:r>
            <a:r>
              <a:rPr lang="en-US" b="0">
                <a:latin typeface="Times New Roman" panose="02020603050405020304"/>
                <a:ea typeface="Times New Roman" panose="02020603050405020304"/>
              </a:rPr>
              <a:t>:</a:t>
            </a:r>
            <a:r>
              <a:rPr lang="en-US" b="1">
                <a:latin typeface="Times New Roman" panose="02020603050405020304"/>
                <a:ea typeface="Times New Roman" panose="02020603050405020304"/>
              </a:rPr>
              <a:t> </a:t>
            </a:r>
            <a:endParaRPr lang="en-US" b="1">
              <a:latin typeface="Times New Roman" panose="02020603050405020304"/>
              <a:ea typeface="Times New Roman" panose="02020603050405020304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</a:rPr>
              <a:t>	</a:t>
            </a:r>
            <a:r>
              <a:rPr lang="en-US" sz="2000" i="1">
                <a:latin typeface="Times New Roman" panose="02020603050405020304"/>
                <a:ea typeface="Times New Roman" panose="02020603050405020304"/>
              </a:rPr>
              <a:t>View Claim Details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2000" i="1">
                <a:latin typeface="Times New Roman" panose="02020603050405020304"/>
                <a:ea typeface="Times New Roman" panose="02020603050405020304"/>
              </a:rPr>
              <a:t>	Modify </a:t>
            </a:r>
            <a:r>
              <a:rPr lang="en-US" sz="2000" i="1">
                <a:latin typeface="Times New Roman" panose="02020603050405020304"/>
                <a:ea typeface="Times New Roman" panose="02020603050405020304"/>
              </a:rPr>
              <a:t>Claim Details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2000" i="1">
                <a:latin typeface="Times New Roman" panose="02020603050405020304"/>
                <a:ea typeface="Times New Roman" panose="02020603050405020304"/>
              </a:rPr>
              <a:t>	Search Policy Record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2000" i="1">
                <a:latin typeface="Times New Roman" panose="02020603050405020304"/>
                <a:ea typeface="Times New Roman" panose="02020603050405020304"/>
              </a:rPr>
              <a:t>	Approve/Reject Claim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2000" i="1">
                <a:latin typeface="Times New Roman" panose="02020603050405020304"/>
                <a:ea typeface="Times New Roman" panose="02020603050405020304"/>
              </a:rPr>
              <a:t>	Send Compensation</a:t>
            </a:r>
            <a:endParaRPr lang="en-US" sz="2000" i="1">
              <a:latin typeface="Times New Roman" panose="02020603050405020304"/>
              <a:ea typeface="Times New Roman" panose="02020603050405020304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</a:rPr>
              <a:t>	</a:t>
            </a:r>
            <a:endParaRPr lang="en-US" sz="2000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09296" y="365179"/>
            <a:ext cx="10784721" cy="925644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Workflows involved                                             </a:t>
            </a:r>
            <a:r>
              <a:rPr lang="zh-CN" b="1">
                <a:latin typeface="Times New Roman" panose="02020603050405020304"/>
                <a:ea typeface="Times New Roman" panose="02020603050405020304"/>
              </a:rPr>
              <a:t>🐾</a:t>
            </a:r>
            <a:endParaRPr lang="zh-CN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内容占位符 3"/>
          <p:cNvSpPr>
            <a:spLocks noGrp="1"/>
          </p:cNvSpPr>
          <p:nvPr>
            <p:ph idx="2"/>
          </p:nvPr>
        </p:nvSpPr>
        <p:spPr>
          <a:xfrm>
            <a:off x="409296" y="1290823"/>
            <a:ext cx="5286696" cy="5230380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rmAutofit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n</a:t>
            </a:r>
            <a:r>
              <a:rPr lang="en-US" sz="2400" b="1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surance Claim Request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Sender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 </a:t>
            </a:r>
            <a:r>
              <a:rPr lang="zh-CN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F</a:t>
            </a:r>
            <a:r>
              <a:rPr lang="zh-CN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</a:t>
            </a:r>
            <a:r>
              <a:rPr lang="zh-CN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ont Desk </a:t>
            </a:r>
            <a:r>
              <a:rPr lang="zh-CN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Pet</a:t>
            </a:r>
            <a:r>
              <a:rPr lang="zh-CN" sz="24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Clini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Receiver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ClaimProcessor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Operation</a:t>
            </a:r>
            <a:r>
              <a:rPr lang="en-US"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</a:t>
            </a:r>
            <a:r>
              <a:rPr lang="en-US" sz="18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Submit Insurance Claim Requests (FrontDesk) 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Receive New Claims (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ClaimProcessor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 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Manage Claims Status (ClaimProcessor) 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Receive Claim Results (Doctor)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内容占位符 5"/>
          <p:cNvSpPr>
            <a:spLocks noGrp="1"/>
          </p:cNvSpPr>
          <p:nvPr>
            <p:ph idx="4"/>
          </p:nvPr>
        </p:nvSpPr>
        <p:spPr>
          <a:xfrm>
            <a:off x="6018541" y="1290823"/>
            <a:ext cx="5773151" cy="5230368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normAutofit/>
          </a:bodyPr>
          <a:lstStyle/>
          <a:p>
            <a:pPr marL="0" lvl="0" algn="l" defTabSz="914400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4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+mn-ea"/>
              </a:rPr>
              <a:t>Compensation Notification Request</a:t>
            </a:r>
            <a:endParaRPr lang="en-US" sz="2400" b="1">
              <a:solidFill>
                <a:schemeClr val="tx1">
                  <a:alpha val="100000"/>
                </a:schemeClr>
              </a:solidFill>
              <a:latin typeface="Times New Roman" panose="02020603050405020304"/>
              <a:ea typeface="Times New Roman" panose="02020603050405020304"/>
              <a:cs typeface="+mn-ea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Sender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ClaimProcessor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Receiver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24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CustomerService(PetBoarding)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2800" b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Operation</a:t>
            </a:r>
            <a:r>
              <a:rPr lang="en-US"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: </a:t>
            </a:r>
            <a:r>
              <a:rPr sz="2800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Receive New Claims </a:t>
            </a:r>
            <a:r>
              <a:rPr lang="en-US" sz="18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ClaimProcessor</a:t>
            </a:r>
            <a:r>
              <a:rPr lang="en-US" sz="18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 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Determine Claim Amount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sz="18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ClaimProcessor</a:t>
            </a:r>
            <a:r>
              <a:rPr lang="en-US" sz="1800" i="1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)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Send Compensation (ClaimProcessor) →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   Receive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Compensation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 Results </a:t>
            </a:r>
            <a:r>
              <a:rPr lang="en-US" sz="1800" b="0" i="1" u="none" strike="noStrike">
                <a:solidFill>
                  <a:schemeClr val="tx1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</a:rPr>
              <a:t>(CustomerService)</a:t>
            </a:r>
            <a:endParaRPr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Conclusion                                             </a:t>
            </a:r>
            <a:r>
              <a:rPr lang="zh-CN" b="1">
                <a:latin typeface="Times New Roman" panose="02020603050405020304"/>
                <a:ea typeface="Times New Roman" panose="02020603050405020304"/>
              </a:rPr>
              <a:t>🐾</a:t>
            </a:r>
            <a:endParaRPr lang="zh-CN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内容占位符 3"/>
          <p:cNvSpPr>
            <a:spLocks noGrp="1"/>
          </p:cNvSpPr>
          <p:nvPr>
            <p:ph idx="2"/>
          </p:nvPr>
        </p:nvSpPr>
        <p:spPr>
          <a:xfrm>
            <a:off x="839788" y="1690688"/>
            <a:ext cx="10515600" cy="20883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800" b="0" i="1">
                <a:latin typeface="Times New Roman" panose="02020603050405020304"/>
                <a:ea typeface="Times New Roman" panose="02020603050405020304"/>
              </a:rPr>
              <a:t>Reduced manual processing and improved </a:t>
            </a:r>
            <a:r>
              <a:rPr sz="2800" b="0" i="1">
                <a:latin typeface="Times New Roman" panose="02020603050405020304"/>
                <a:ea typeface="Times New Roman" panose="02020603050405020304"/>
              </a:rPr>
              <a:t>efficiency</a:t>
            </a:r>
            <a:endParaRPr sz="2800" b="0" i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800" b="0" i="1">
                <a:latin typeface="Times New Roman" panose="02020603050405020304"/>
                <a:ea typeface="Times New Roman" panose="02020603050405020304"/>
              </a:rPr>
              <a:t>Delivered a </a:t>
            </a:r>
            <a:r>
              <a:rPr sz="2800" b="0" i="1">
                <a:latin typeface="Times New Roman" panose="02020603050405020304"/>
                <a:ea typeface="Times New Roman" panose="02020603050405020304"/>
              </a:rPr>
              <a:t>clear, intuitive UI </a:t>
            </a:r>
            <a:r>
              <a:rPr sz="2800" b="0" i="1">
                <a:latin typeface="Times New Roman" panose="02020603050405020304"/>
                <a:ea typeface="Times New Roman" panose="02020603050405020304"/>
              </a:rPr>
              <a:t>for all user roles</a:t>
            </a:r>
            <a:endParaRPr sz="2800" b="0" i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800" b="0" i="1">
                <a:latin typeface="Times New Roman" panose="02020603050405020304"/>
                <a:ea typeface="Times New Roman" panose="02020603050405020304"/>
              </a:rPr>
              <a:t>Enabled </a:t>
            </a:r>
            <a:r>
              <a:rPr sz="2800" b="0" i="1">
                <a:latin typeface="Times New Roman" panose="02020603050405020304"/>
                <a:ea typeface="Times New Roman" panose="02020603050405020304"/>
              </a:rPr>
              <a:t>faster decisions </a:t>
            </a:r>
            <a:r>
              <a:rPr sz="2800" b="0" i="1">
                <a:latin typeface="Times New Roman" panose="02020603050405020304"/>
                <a:ea typeface="Times New Roman" panose="02020603050405020304"/>
              </a:rPr>
              <a:t>and </a:t>
            </a:r>
            <a:r>
              <a:rPr sz="2800" b="0" i="1">
                <a:latin typeface="Times New Roman" panose="02020603050405020304"/>
                <a:ea typeface="Times New Roman" panose="02020603050405020304"/>
              </a:rPr>
              <a:t>better service </a:t>
            </a:r>
            <a:r>
              <a:rPr sz="2800" b="0" i="1">
                <a:latin typeface="Times New Roman" panose="02020603050405020304"/>
                <a:ea typeface="Times New Roman" panose="02020603050405020304"/>
              </a:rPr>
              <a:t>for pet owners</a:t>
            </a:r>
            <a:endParaRPr sz="2800" b="0" i="1">
              <a:latin typeface="Times New Roman" panose="02020603050405020304"/>
              <a:ea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b="0" i="1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4114</Words>
  <Application>WPS 演示</Application>
  <PresentationFormat/>
  <Paragraphs>151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Times New Roman</vt:lpstr>
      <vt:lpstr>Arial Unicode MS</vt:lpstr>
      <vt:lpstr>Calibri</vt:lpstr>
      <vt:lpstr>腾讯文档 默认主题​</vt:lpstr>
      <vt:lpstr>INFO 5100 Fall 2025 Final Project</vt:lpstr>
      <vt:lpstr>Problem &amp; Motivation</vt:lpstr>
      <vt:lpstr>Enterprise Directory</vt:lpstr>
      <vt:lpstr>Pet Boarding Enterprise                               🐾</vt:lpstr>
      <vt:lpstr>Workflows involved                                           🐾</vt:lpstr>
      <vt:lpstr>Pet Clinic Enterprise                               🐾</vt:lpstr>
      <vt:lpstr>Workflows involved                                           🐾</vt:lpstr>
      <vt:lpstr>Workflows involved                                           🐾</vt:lpstr>
      <vt:lpstr>Pet Insurance Enterprise                                     🐾</vt:lpstr>
      <vt:lpstr>Workflows involved                                             🐾</vt:lpstr>
      <vt:lpstr>Conclusion                                             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5100 Fall 2025 Final Project</dc:title>
  <dc:creator/>
  <cp:lastModifiedBy>:- )</cp:lastModifiedBy>
  <cp:revision>1</cp:revision>
  <dcterms:created xsi:type="dcterms:W3CDTF">2025-12-07T16:04:26Z</dcterms:created>
  <dcterms:modified xsi:type="dcterms:W3CDTF">2025-12-07T16:04:26Z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429D4E84113546E3AE67D216099981DB_12</vt:lpwstr>
  </property>
  <property fmtid="{D5CDD505-2E9C-101B-9397-08002B2CF9AE}" pid="3" name="KSOProductBuildVer">
    <vt:lpwstr>2052-12.1.0.24034</vt:lpwstr>
  </property>
</Properties>
</file>